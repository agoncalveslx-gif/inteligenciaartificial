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0,5 min</a:t>
            </a:r>
          </a:p>
          <a:p/>
          <a:p>
            <a:r>
              <a:t>Nesta aula estudamos decisões cujo resultado depende das respostas de outro agente. O percurso é representar o jogo, calcular a decisão com Minimax, otimizar a exploração com alfa-beta e avaliar estados quando a procura tem de parar antes dos terminais.</a:t>
            </a:r>
          </a:p>
          <a:p/>
          <a:p>
            <a:r>
              <a:t>O cenário das janelas de atracação serve de motivação. As hipóteses de soma zero e de pior caso são didáticas, não uma caracterização empírica de operadores portuários. As imagens de CSP fornecidas pelo docente foram utilizadas exclusivamente como referência visual. Não é uma aula de CSP.</a:t>
            </a:r>
          </a:p>
          <a:p/>
          <a:p>
            <a:r>
              <a:t>A apresentação contém 22 infografias. A sequência dá prioridade a fórmulas, árvores, pseudocódigo e verificações; os exemplos adicionais estão identificados nas respetivas notas.</a:t>
            </a:r>
          </a:p>
          <a:p/>
          <a:p>
            <a:r>
              <a:t>ORIGEM E ADAPTAÇÕES</a:t>
            </a:r>
          </a:p>
          <a:p>
            <a:r>
              <a:t>Base: IA-S06.pptx, diapositivo 1.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1,5 min</a:t>
            </a:r>
          </a:p>
          <a:p/>
          <a:p>
            <a:r>
              <a:t>Temos dois operadores, A e B, que escolhem janelas alternadamente. Uma janela atribuída deixa de estar disponível para o outro operador. Se A escolher J₂, o conjunto de janelas livres passa de {J₁,J₂,J₃} para {J₁,J₃}. B pode então escolher J₁ ou J₃.</a:t>
            </a:r>
          </a:p>
          <a:p>
            <a:r>
              <a:t>Este exemplo mostra como uma decisão altera as opções seguintes. A atribuição é exclusiva; as escolhas não são independentes. O estado tem de registar a disponibilidade e o próximo turno.</a:t>
            </a:r>
          </a:p>
          <a:p>
            <a:r>
              <a:t>A motivação original é reduzir o próprio tempo de espera. Isso ainda não estabelece uma oposição exata entre as utilidades dos dois operadores. A hipótese adversarial necessária para esta aula é explicada no slide seguinte.</a:t>
            </a:r>
          </a:p>
          <a:p>
            <a:r>
              <a:t>Não atribuir às janelas durações, prioridades ou utilidades que não tenham sido definidas. O diagrama é um exemplo de transição, não um plano operacional completo.</a:t>
            </a:r>
          </a:p>
          <a:p/>
          <a:p>
            <a:r>
              <a:t>ORIGEM E ADAPTAÇÕES</a:t>
            </a:r>
          </a:p>
          <a:p>
            <a:r>
              <a:t>Base: IA-S06.pptx, diapositivo 2.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1,5 min</a:t>
            </a:r>
          </a:p>
          <a:p/>
          <a:p>
            <a:r>
              <a:t>Importa separar o cenário real do modelo de decisão. Cada empresa procurar reduzir a própria espera não significa que tente necessariamente maximizar a espera da outra. Não vamos apresentar o cenário portuário como um jogo de soma zero demonstrado pelos dados.</a:t>
            </a:r>
          </a:p>
          <a:p>
            <a:r>
              <a:t>Nesta simplificação didática, A desempenha MAX e B desempenha MIN. Avaliamos todas as folhas com uma utilidade para MAX e assumimos que MIN escolhe a resposta que reduz essa mesma utilidade. Podemos exprimir a oposição de interesses por U_MIN = −U_MAX.</a:t>
            </a:r>
          </a:p>
          <a:p>
            <a:r>
              <a:t>As hipóteses são dois agentes, alternância de turnos, informação completa, transições determinísticas e uma árvore finita. A interpretação é de pior caso: escolher a melhor ação tendo em conta a resposta menos favorável. Esta formalização foi acrescentada à aula, não é uma medição do comportamento de operadores reais.</a:t>
            </a:r>
          </a:p>
          <a:p/>
          <a:p>
            <a:r>
              <a:t>ORIGEM E ADAPTAÇÕES</a:t>
            </a:r>
          </a:p>
          <a:p>
            <a:r>
              <a:t>Base: IA-S06.pptx, diapositivo 3.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O estado contém quatro componentes: janelas ainda livres, atribuições ao operador A, atribuições ao operador B e próximo jogador. Estes campos são os dados que permitem gerar as ações e interpretar o resultado.</a:t>
            </a:r>
          </a:p>
          <a:p/>
          <a:p>
            <a:r>
              <a:t>No exemplo, a janela J₂ deixa de estar livre, passa para M_A e o jogador passa de A para B. M_B continua vazio. É uma transformação de estado, não o cálculo de uma utilidade. Não acrescentamos tempos, prioridades ou capacidades que não estejam definidos.</a:t>
            </a:r>
          </a:p>
          <a:p/>
          <a:p>
            <a:r>
              <a:t>O critério terminal adotado no modelo é a ausência de janelas livres. Um estado não terminal tem pelo menos uma ação disponível. Cada atribuição ocupa uma janela e os turnos alternam. A árvore numérica usada nos slides seguintes é independente deste exemplo de três janelas.</a:t>
            </a:r>
          </a:p>
          <a:p/>
          <a:p>
            <a:r>
              <a:t>Esta infografia separa a representação do estado da interface das funções, anteriormente apresentadas no mesmo slide.</a:t>
            </a:r>
          </a:p>
          <a:p/>
          <a:p>
            <a:r>
              <a:t>ORIGEM E ADAPTAÇÕES</a:t>
            </a:r>
          </a:p>
          <a:p>
            <a:r>
              <a:t>Base: IA-S06.pptx, diapositivo 4.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As funções constituem o contrato entre o problema e o algoritmo. jogador indica MAX ou MIN; acoes devolve escolhas válidas; resultado gera o sucessor; terminal determina o fim; U avalia o resultado terminal sempre para MAX.</a:t>
            </a:r>
          </a:p>
          <a:p/>
          <a:p>
            <a:r>
              <a:t>A expressão de conservação e as verificações de exclusividade são explicitações adicionais derivadas do modelo: J_livres, M_A e M_B são disjuntos e a sua união é o conjunto inicial J₀. Uma ação legal retira exatamente uma janela das livres e insere-a na atribuição do jogador atual. Não se perde nem se duplica uma janela.</a:t>
            </a:r>
          </a:p>
          <a:p/>
          <a:p>
            <a:r>
              <a:t>Numa implementação, resultado deve criar um novo estado ou as alterações devem ser restauradas corretamente. Uma pesquisa não pode deixar que a exploração de um ramo altere as alternativas dos ramos irmãos. A legalidade de uma ação, a conservação e a alternância podem ser testadas independentemente do Minimax.</a:t>
            </a:r>
          </a:p>
          <a:p/>
          <a:p>
            <a:r>
              <a:t>ORIGEM E ADAPTAÇÕES</a:t>
            </a:r>
          </a:p>
          <a:p>
            <a:r>
              <a:t>Base: IA-S06.pptx, diapositivo 4.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1,5 min</a:t>
            </a:r>
          </a:p>
          <a:p/>
          <a:p>
            <a:r>
              <a:t>A utilidade traduz um resultado num número para MAX. Maior é melhor para MAX; MIN escolhe os menores números dessa mesma escala. Não mudamos para a utilidade de MIN em cada nível do algoritmo.</a:t>
            </a:r>
          </a:p>
          <a:p>
            <a:r>
              <a:t>Neste exemplo, L permite resultados 5 ou 6; R permite 3 ou 9. Olhar apenas para o melhor resultado possível levaria a preferir R por causa de 9. Mas MIN pode escolher 3. O resultado garantido de L é 5 e o de R é 3. MAX prefere L.</a:t>
            </a:r>
          </a:p>
          <a:p>
            <a:r>
              <a:t>As pontuações 5, 6, 3 e 9 são dados didáticos preservados da árvore da TP2. Não foram calculadas a partir de tempos das janelas do slide 2. A distinção essencial é entre um resultado possível e um resultado que MAX consegue garantir contra as respostas previstas no modelo.</a:t>
            </a:r>
          </a:p>
          <a:p/>
          <a:p>
            <a:r>
              <a:t>Cada nó corresponde a um estado e cada ligação a uma ação. A raiz é um estado em que MAX decide. As ações L e R conduzem a estados em que MIN responde. Depois dessas respostas, as quatro folhas deste exemplo são terminais e têm utilidades fornecidas.</a:t>
            </a:r>
          </a:p>
          <a:p>
            <a:r>
              <a:t>Usamos um círculo preenchido para MAX, um círculo claro para MIN e uma caixa para uma folha terminal. Esta convenção mantém-se ao longo da aula. As utilidades não são custos das ligações: não se somam os valores das folhas ao percorrer um caminho.</a:t>
            </a:r>
          </a:p>
          <a:p>
            <a:r>
              <a:t>A árvore numérica tem duas ações por nó não terminal e duas ações até cada resultado. Serve para aprender o algoritmo; não pretende enumerar exatamente o cenário de três janelas. O cálculo de Minimax começa quando conhecemos as utilidades terminais e as fazemos regressar à raiz.</a:t>
            </a:r>
          </a:p>
          <a:p/>
          <a:p>
            <a:r>
              <a:t>ORIGEM E ADAPTAÇÕES</a:t>
            </a:r>
          </a:p>
          <a:p>
            <a:r>
              <a:t>Base: IA-S06.pptx, diapositivos 5, 6.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A função V(s) é definida por três casos. Se o estado é terminal, devolve U(s). Se a decisão pertence a MAX, devolve o maior valor entre os sucessores. Se pertence a MIN, devolve o menor. A(s) é o conjunto de ações legais e resultado(s,a) é o estado produzido pela ação a.</a:t>
            </a:r>
          </a:p>
          <a:p>
            <a:r>
              <a:t>A recorrência determina valores. Para agir na raiz MAX, precisamos também de guardar a ação associada ao maior valor do sucessor. Por isso, V(s) é um número e a estrela identifica uma ação.</a:t>
            </a:r>
          </a:p>
          <a:p>
            <a:r>
              <a:t>Em caso de empate, adotaremos a primeira ação na ordem de exploração, atualizando a ação guardada apenas perante uma melhoria estrita. A regra deve ser explícita para tornar os testes reprodutíveis.</a:t>
            </a:r>
          </a:p>
          <a:p>
            <a:r>
              <a:t>Nos exemplos seguintes, V(L) e V(R) são abreviaturas dos valores dos estados alcançados pelas ações L e R, não uma alteração ao tipo de argumento da função V.</a:t>
            </a:r>
          </a:p>
          <a:p/>
          <a:p>
            <a:r>
              <a:t>ORIGEM E ADAPTAÇÕES</a:t>
            </a:r>
          </a:p>
          <a:p>
            <a:r>
              <a:t>Base: IA-S06.pptx, diapositivo 7.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Começamos pelo nó MIN esquerdo: o mínimo de 5 e 6 é 5. O nó MIN direito recebe 3 e 9 e devolve 3. Na raiz, MAX compara 5 e 3, conserva 5 e escolhe a ação L.</a:t>
            </a:r>
          </a:p>
          <a:p>
            <a:r>
              <a:t>Nesta execução completa avaliámos quatro utilidades terminais. Visitámos sete nós: a raiz, dois nós MIN e quatro folhas. Estas contagens são diferentes e devem ser registadas separadamente.</a:t>
            </a:r>
          </a:p>
          <a:p>
            <a:r>
              <a:t>A execução recursiva pode percorrer em profundidade, mas o valor de cada nó só fica concluído após obter os valores dos filhos necessários. Pedir aos alunos que expliquem por que não escolhemos o maior número desenhado na árvore.</a:t>
            </a:r>
          </a:p>
          <a:p>
            <a:r>
              <a:t>Guardar este exemplo para comparação posterior. Não vamos alterar as utilidades quando introduzirmos alfa-beta: apenas a quantidade de exploração.</a:t>
            </a:r>
          </a:p>
          <a:p/>
          <a:p>
            <a:r>
              <a:t>ORIGEM E ADAPTAÇÕES</a:t>
            </a:r>
          </a:p>
          <a:p>
            <a:r>
              <a:t>Base: IA-S06.pptx, diapositivo 8.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2,5 min</a:t>
            </a:r>
          </a:p>
          <a:p/>
          <a:p>
            <a:r>
              <a:t>O bloco da esquerda calcula apenas um valor. Se o estado for terminal devolve U. Caso contrário inicializa v com menos infinito em MAX e mais infinito em MIN. Percorre os sucessores e combina recursivamente os valores pelo máximo ou mínimo.</a:t>
            </a:r>
          </a:p>
          <a:p/>
          <a:p>
            <a:r>
              <a:t>O bloco da direita traduz a escolha na raiz MAX numa ação executável. A sua pré-condição é um estado não terminal de MAX. Guarda-se a primeira ação e, daí em diante, altera-se a escolha apenas quando r é estritamente maior do que o melhor valor. Isto preserva o desempate pela primeira ação.</a:t>
            </a:r>
          </a:p>
          <a:p/>
          <a:p>
            <a:r>
              <a:t>Os dois blocos são pseudocódigo didático, não uma implementação Python autónoma. As funções de estado têm de ser implementadas para o jogo. Assumimos árvore finita, utilidades reais finitas e pelo menos uma ação em cada estado não terminal. O caso inicial terminal é tratado antes de pedir uma decisão de ação.</a:t>
            </a:r>
          </a:p>
          <a:p/>
          <a:p>
            <a:r>
              <a:t>O bloco de escolha foi explicitado para separar o valor numérico do objeto ação; os seus passos seguem a recorrência e a regra de desempate do material.</a:t>
            </a:r>
          </a:p>
          <a:p/>
          <a:p>
            <a:r>
              <a:t>ORIGEM E ADAPTAÇÕES</a:t>
            </a:r>
          </a:p>
          <a:p>
            <a:r>
              <a:t>Base: IA-S06.pptx, diapositivos 9, 7.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1,5 min</a:t>
            </a:r>
          </a:p>
          <a:p/>
          <a:p>
            <a:r>
              <a:t>Se cada nó tiver b sucessores e todas as folhas estiverem à profundidade d, o número de folhas é b elevado a d. Os nós totais incluem também os níveis intermédios: somamos b elevado a k desde k igual a zero até d.</a:t>
            </a:r>
          </a:p>
          <a:p>
            <a:r>
              <a:t>Para b=3 e d=4, temos 1, 3, 9, 27 e 81 nós por nível. São 81 folhas e 121 nós no total. O exemplo é uma árvore completa de ramificação constante; uma árvore real pode ser irregular.</a:t>
            </a:r>
          </a:p>
          <a:p>
            <a:r>
              <a:t>O tempo da exploração completa cresce exponencialmente com a profundidade, O(b^d), nas condições habituais de custo constante por avaliação. Aumentar apenas um nível pode multiplicar o trabalho por aproximadamente b.</a:t>
            </a:r>
          </a:p>
          <a:p>
            <a:r>
              <a:t>Distinguir sempre folhas avaliadas, nós visitados e tempo medido. O número de avaliações não inclui por si só o custo de gerar sucessores ou de executar uma função de avaliação mais cara.</a:t>
            </a:r>
          </a:p>
          <a:p/>
          <a:p>
            <a:r>
              <a:t>As contagens exatas supõem b inteiro e ramificação constante; o crescimento exponencial habitual considera b &gt; 1. Para árvores irregulares, usar o número efetivo de nós ou um limite superior, não estas igualdades como uma medição.</a:t>
            </a:r>
          </a:p>
          <a:p/>
          <a:p>
            <a:r>
              <a:t>ORIGEM E ADAPTAÇÕES</a:t>
            </a:r>
          </a:p>
          <a:p>
            <a:r>
              <a:t>Base: IA-S06.pptx, diapositivo 10.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1,5 min</a:t>
            </a:r>
          </a:p>
          <a:p/>
          <a:p>
            <a:r>
              <a:t>MAX já tem uma alternativa que garante 5. No novo ramo, quem decide é MIN. A primeira folha vista vale 3. Independentemente do valor da folha ainda desconhecida x, o mínimo de 3 e x nunca pode exceder 3.</a:t>
            </a:r>
          </a:p>
          <a:p>
            <a:r>
              <a:t>Se x for 100, MIN continua a escolher 3. Se x for −100, o resultado fica ainda pior para MAX. Nenhuma dessas possibilidades torna o ramo superior à alternativa de valor 5.</a:t>
            </a:r>
          </a:p>
          <a:p>
            <a:r>
              <a:t>Por isso, não precisamos de avaliar x para concluir que MAX não irá preferir este ramo. A poda usa informação parcial suficiente para decidir. Não é uma aproximação à exploração completa desta árvore e não envolve eliminar ações aleatoriamente.</a:t>
            </a:r>
          </a:p>
          <a:p/>
          <a:p>
            <a:r>
              <a:t>ORIGEM E ADAPTAÇÕES</a:t>
            </a:r>
          </a:p>
          <a:p>
            <a:r>
              <a:t>Base: IA-S06.pptx, diapositivo 11.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Alfa e beta resumem alternativas já encontradas ao longo do caminho de pesquisa. Alfa guarda o melhor limite associado às decisões de MAX; beta guarda o melhor limite associado às decisões de MIN.</a:t>
            </a:r>
          </a:p>
          <a:p>
            <a:r>
              <a:t>Na raiz começamos sem informação: alfa é menos infinito e beta é mais infinito. Num nó MAX, quando v melhora, alfa passa a max(alfa,v), pelo que não diminui. Num nó MIN, beta passa a min(beta,v), pelo que não aumenta.</a:t>
            </a:r>
          </a:p>
          <a:p>
            <a:r>
              <a:t>Os limites são passados aos descendentes. Cada chamada mantém as suas variáveis locais; não se deve tratar beta como uma variável global acumulada indiscriminadamente entre ramos irmãos.</a:t>
            </a:r>
          </a:p>
          <a:p>
            <a:r>
              <a:t>No exemplo comum, depois de explorar L, a raiz tem alfa=5. Esse alfa será passado ao ramo R e permitirá reconhecer que o valor observado 3 já é suficiente para o excluir.</a:t>
            </a:r>
          </a:p>
          <a:p/>
          <a:p>
            <a:r>
              <a:t>A condição usada nesta aula é alfa maior ou igual a beta. No exemplo de um nó MIN, alfa=5 indica que MAX já tem uma alternativa de valor 5. Encontrar uma resposta de valor 3 estabelece beta=3. Como 5 é maior ou igual a 3, interrompemos a exploração dos restantes filhos desse nó.</a:t>
            </a:r>
          </a:p>
          <a:p>
            <a:r>
              <a:t>A parte importante é a justificação: o valor real do nó MIN pode ser 3 ou inferior, mas já não consegue melhorar a decisão de MAX.</a:t>
            </a:r>
          </a:p>
          <a:p>
            <a:r>
              <a:t>Não confundir o valor devolvido numa chamada cortada com o valor Minimax exato desse nó. Uma execução pode devolver apenas um limite suficiente para os antecessores. A raiz, chamada com limites abertos, continuará a ter o valor exato da árvore considerada.</a:t>
            </a:r>
          </a:p>
          <a:p>
            <a:r>
              <a:t>A igualdade também permite o corte no algoritmo apresentado. Para uma ação reprodutível em empates, mantemos a primeira alternativa já encontrada.</a:t>
            </a:r>
          </a:p>
          <a:p/>
          <a:p>
            <a:r>
              <a:t>ORIGEM E ADAPTAÇÕES</a:t>
            </a:r>
          </a:p>
          <a:p>
            <a:r>
              <a:t>Base: IA-S06.pptx, diapositivos 12, 13.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Voltamos à árvore 5,6 e 3,9. No ramo esquerdo, MIN avalia 5 e 6 e devolve 5. A raiz MAX atualiza alfa para 5.</a:t>
            </a:r>
          </a:p>
          <a:p>
            <a:r>
              <a:t>O ramo direito recebe alfa=5. A sua primeira folha vale 3 e beta passa a 3. A condição alfa maior ou igual a beta é satisfeita. A folha 9, que está desenhada para permitir comparar com a árvore original, não é avaliada pelo algoritmo.</a:t>
            </a:r>
          </a:p>
          <a:p>
            <a:r>
              <a:t>Escrevemos ≤3 no nó MIN direito porque não calculámos o seu mínimo completo. Este limite já basta para a raiz manter a ação L e o valor 5.</a:t>
            </a:r>
          </a:p>
          <a:p>
            <a:r>
              <a:t>Minimax tinha avaliado quatro folhas e visitado sete nós. Alfa-beta avalia três folhas e visita seis nós. O ramo podado não conta como visita. Não generalizar esta redução de uma avaliação como percentagem garantida noutros problemas.</a:t>
            </a:r>
          </a:p>
          <a:p/>
          <a:p>
            <a:r>
              <a:t>ORIGEM E ADAPTAÇÕES</a:t>
            </a:r>
          </a:p>
          <a:p>
            <a:r>
              <a:t>Base: IA-S06.pptx, diapositivo 14.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3 min</a:t>
            </a:r>
          </a:p>
          <a:p/>
          <a:p>
            <a:r>
              <a:t>EXEMPLO DIDÁTICO ADICIONAL. A raiz MAX tem dois filhos MIN, L e R. L tem os filhos MAX L₁=(5,4) e L₂=(6,8). R tem os filhos MAX R₁=(2,3) e R₂=(7,9). As folhas são terminais; percorremos da esquerda para a direita, com limites iniciais abertos.</a:t>
            </a:r>
          </a:p>
          <a:p/>
          <a:p>
            <a:r>
              <a:t>Minimax completo: L₁=5, L₂=8, L=min(5,8)=5. R₁=3, R₂=9, R=min(3,9)=3. A raiz vale 5 e escolhe L. São 8 folhas e 15 nós visitados.</a:t>
            </a:r>
          </a:p>
          <a:p/>
          <a:p>
            <a:r>
              <a:t>Alfa-beta: L₁ recebe limites abertos e avalia 5 e 4, devolvendo 5. O nó MIN L fixa β=5. L₂ recebe α=−∞ e β=5; depois de avaliar a folha 6, α local=6. Como 6≥5, corta a folha 8. Devolve 6, um limite inferior do valor real de L₂, que seria 8. O nó L mantém 5.</a:t>
            </a:r>
          </a:p>
          <a:p/>
          <a:p>
            <a:r>
              <a:t>A raiz fixa α=5. R recebe α=5 e β=+∞. R₁ avalia 2 e 3 e devolve o seu valor exato 3. R atualiza β=3 e, como 5≥3, não visita R₂ nem as suas folhas 7 e 9. O retorno 3 de R constitui, nesta chamada, um limite superior suficiente para rejeitar o ramo; não foi calculado o mínimo completo.</a:t>
            </a:r>
          </a:p>
          <a:p/>
          <a:p>
            <a:r>
              <a:t>Folhas efetivamente avaliadas: 5,4,6,2,3 — cinco. Nós visitados: raiz, L, L₁, duas folhas, L₂, folha 6, R, R₁, duas folhas — onze. A raiz conserva o valor 5 e a ação L. Este exemplo foi proposto para mostrar cortes em MAX e MIN e foi verificado por execução em Python. As etiquetas ≥6 e ≤3 representam limites, não utilidades terminais.</a:t>
            </a:r>
          </a:p>
          <a:p/>
          <a:p>
            <a:r>
              <a:t>ORIGEM E ADAPTAÇÕES</a:t>
            </a:r>
          </a:p>
          <a:p>
            <a:r>
              <a:t>Novo exemplo didático proposto na sequência de 22 slides; não consta do ficheiro original de 20 slides.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A função AB começa pelo teste terminal. Depois escolhe o bloco MAX ou MIN, conforme jogador(s). Os dois blocos são alternativas do mesmo algoritmo, não duas funções a executar uma depois da outra.</a:t>
            </a:r>
          </a:p>
          <a:p>
            <a:r>
              <a:t>Cada filho recebe os limites atuais. Num nó MAX atualizamos v por máximo e depois alfa. Num nó MIN atualizamos v por mínimo e depois beta. Se alfa for maior ou igual a beta, interrompemos o ciclo dos restantes filhos. Devolvemos v.</a:t>
            </a:r>
          </a:p>
          <a:p>
            <a:r>
              <a:t>A chamada inicial é AB(s₀,−∞,+∞). A função de decisão guarda a ação da raiz com melhor valor; deve conservar a primeira ação em caso de empate. As alterações em destaque são as diferenças essenciais em relação ao Minimax completo.</a:t>
            </a:r>
          </a:p>
          <a:p>
            <a:r>
              <a:t>Esta versão ainda pesquisa até estados terminais. No corte de um ramo, v pode ser um limite em vez do valor exato desse estado. A verificação de igualdade com Minimax deve ser feita na chamada de raiz com limites abertos e as mesmas condições de avaliação.</a:t>
            </a:r>
          </a:p>
          <a:p/>
          <a:p>
            <a:r>
              <a:t>ORIGEM E ADAPTAÇÕES</a:t>
            </a:r>
          </a:p>
          <a:p>
            <a:r>
              <a:t>Base: IA-S06.pptx, diapositivo 15.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A tabela mantém a árvore e altera apenas a ordem de exploração. Com L primeiro e a ordem 3,9 no ramo direito, alfa-beta pode parar depois do 3 e avalia três folhas.</a:t>
            </a:r>
          </a:p>
          <a:p>
            <a:r>
              <a:t>Com L primeiro mas 9 antes de 3, beta começa em 9, ainda acima de alfa=5. É necessário avaliar a folha 3. A condição de corte acaba por ocorrer no fim, mas já não há folhas restantes para poupar. São quatro avaliações.</a:t>
            </a:r>
          </a:p>
          <a:p>
            <a:r>
              <a:t>Quando exploramos R antes de L, alfa ainda é menos infinito durante R. Avaliamos as suas duas folhas, a raiz fica com alfa=3 e depois precisa de avaliar 5 e 6 em L. Também são quatro folhas.</a:t>
            </a:r>
          </a:p>
          <a:p>
            <a:r>
              <a:t>O valor final permanece 5 e, neste exemplo com melhor ação única, a escolha permanece L. Uma boa ordenação ajuda a tornar os limites úteis cedo. Em problemas com empates, diferentes ordens podem escolher diferentes ações igualmente ótimas.</a:t>
            </a:r>
          </a:p>
          <a:p/>
          <a:p>
            <a:r>
              <a:t>“Ordem proposta” não é o registo de todas as folhas efetivamente avaliadas: uma folha prevista pode ser podada antes da visita. As contagens de nós são 7, 6, 7 e 7, respetivamente. Não contar uma verificação de corte no último filho como uma folha poupada.</a:t>
            </a:r>
          </a:p>
          <a:p/>
          <a:p>
            <a:r>
              <a:t>Como desenvolvimento orientado à engenharia, a medição de tempo deve incluir a construção da ordem dos sucessores. Não afirmamos que menos folhas correspondam sempre a menor tempo total. As mesmas utilidades e a mesma árvore são mantidas em todas as linhas.</a:t>
            </a:r>
          </a:p>
          <a:p/>
          <a:p>
            <a:r>
              <a:t>ORIGEM E ADAPTAÇÕES</a:t>
            </a:r>
          </a:p>
          <a:p>
            <a:r>
              <a:t>Base: IA-S06.pptx, diapositivos 16, 10.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Quando a árvore não cabe no orçamento disponível, limitamos a profundidade. Aqui d conta ações individuais ainda a explorar: uma decisão de MAX ou uma decisão de MIN reduz d em uma unidade.</a:t>
            </a:r>
          </a:p>
          <a:p>
            <a:r>
              <a:t>Primeiro verificamos se o estado é terminal. Se for, usamos a utilidade real U(s). Só depois testamos d=0. Se o estado não for terminal mas o limite tiver sido atingido, usamos Eval(s), uma estimativa do seu valor. Fora desses casos, exploramos filhos com d−1 e agregamos por máximo ou mínimo.</a:t>
            </a:r>
          </a:p>
          <a:p>
            <a:r>
              <a:t>Alfa-beta continua a preservar o resultado de Minimax na mesma árvore limitada, com a mesma avaliação. O que se perde é a garantia relativa ao jogo completo, porque substituímos resultados futuros por estimativas.</a:t>
            </a:r>
          </a:p>
          <a:p>
            <a:r>
              <a:t>A formulação dos slides antigos TP2–19/20 foi reformulada: a avaliação de estados de jogo não deve ser apresentada como g+h de A*, nem exigir automaticamente admissibilidade e consistência de uma heurística de caminhos.</a:t>
            </a:r>
          </a:p>
          <a:p/>
          <a:p>
            <a:r>
              <a:t>ORIGEM E ADAPTAÇÕES</a:t>
            </a:r>
          </a:p>
          <a:p>
            <a:r>
              <a:t>Base: IA-S06.pptx, diapositivo 17.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A função de avaliação estima o valor de um estado não terminal na perspetiva de MAX. O exemplo portuário combina espera, risco de atraso e capacidade disponível. Espera e risco recebem sinal negativo; capacidade, sinal positivo.</a:t>
            </a:r>
          </a:p>
          <a:p/>
          <a:p>
            <a:r>
              <a:t>Como no material de base, T e C são divididos por referências positivas e fixas e R representa uma probabilidade. Para que os exemplos pertençam a [0,1], explicita-se a hipótese 0≤T≤T_ref e 0≤C≤C_ref. Se uma aplicação não satisfizer estes limites, não se deve assumir que a razão continua em [0,1]; o modelo e as referências precisam de ser revistos.</a:t>
            </a:r>
          </a:p>
          <a:p/>
          <a:p>
            <a:r>
              <a:t>A convenção de pesos não negativos com soma 1 é didática e já é satisfeita pelos exemplos da aula. Não é uma exigência universal de toda função de avaliação. Não se confunde esta escala por referência com uma standardização estatística por média e desvio-padrão.</a:t>
            </a:r>
          </a:p>
          <a:p/>
          <a:p>
            <a:r>
              <a:t>Os indicadores, sinais, referências e pesos fazem parte do modelo. O exemplo é independente da árvore de utilidades 5,6,3,9. Antes de utilizar U e Eval na mesma pesquisa, é necessário assegurar coerência da interpretação e da escala. A normalização não valida, por si só, a qualidade da avaliação.</a:t>
            </a:r>
          </a:p>
          <a:p/>
          <a:p>
            <a:r>
              <a:t>ORIGEM E ADAPTAÇÕES</a:t>
            </a:r>
          </a:p>
          <a:p>
            <a:r>
              <a:t>Base: IA-S06.pptx, diapositivo 18.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A primeira configuração preserva os estados e os pesos do material. Para s₁: −0,5×0,2−0,3×0,4+0,2×0,8=−0,06. Para s₂: −0,5×0,5−0,3×0,2+0,2×0,6=−0,19. MAX prefere s₁ porque −0,06&gt;−0,19. O sinal negativo dos resultados não altera a regra de maximização.</a:t>
            </a:r>
          </a:p>
          <a:p/>
          <a:p>
            <a:r>
              <a:t>ANÁLISE DE SENSIBILIDADE ADICIONAL: mantemos os indicadores e usamos pesos (0,2;0,6;0,2), atribuindo mais peso à penalização por risco. Obtemos Eval(s₁)=−0,04−0,24+0,16=−0,12 e Eval(s₂)=−0,10−0,12+0,12=−0,10. A preferência passa a s₂.</a:t>
            </a:r>
          </a:p>
          <a:p/>
          <a:p>
            <a:r>
              <a:t>Os pesos alteram prioridades, não apenas a aparência numérica. Não escolhemos uma configuração por produzir a decisão que queremos ver. Numa aplicação, justificar e testar os pesos. Os dois estados não constituem prova de desempenho do modelo nem dados portuários reais. Ambos os cálculos foram verificados numericamente. Esta infografia separa o cálculo da definição dos indicadores.</a:t>
            </a:r>
          </a:p>
          <a:p/>
          <a:p>
            <a:r>
              <a:t>ORIGEM E ADAPTAÇÕES</a:t>
            </a:r>
          </a:p>
          <a:p>
            <a:r>
              <a:t>Base: IA-S06.pptx, diapositivo 18.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2 min</a:t>
            </a:r>
          </a:p>
          <a:p/>
          <a:p>
            <a:r>
              <a:t>Começar por árvores pequenas com soluções conhecidas. Um estado inicial terminal deve devolver U e não gerar sucessores; não se exige uma ação num estado em que não há decisão a tomar. A regra de primeira ação aplica-se ao empate entre alternativas da raiz.</a:t>
            </a:r>
          </a:p>
          <a:p/>
          <a:p>
            <a:r>
              <a:t>Verificar o teste terminal antes do corte por profundidade. Se um terminal ocorrer com d=0, devolver U. Se d=0 e o estado não for terminal, devolver Eval. Usar a mesma unidade de profundidade em Minimax e alfa-beta.</a:t>
            </a:r>
          </a:p>
          <a:p/>
          <a:p>
            <a:r>
              <a:t>Na comparação, iniciar alfa-beta com α=−∞ e β=+∞ e manter exatamente a mesma árvore, profundidade e avaliação. A igualdade exigida é a do valor da raiz. Não exigir que todos os nós cortados tenham valores exatos. Uma ordem diferente pode escolher outra ação igualmente ótima num empate; para uma ação reproduzível, manter a mesma regra e a mesma ordem.</a:t>
            </a:r>
          </a:p>
          <a:p/>
          <a:p>
            <a:r>
              <a:t>Os testes adicionais de legalidade e de conservação do estado são derivados da representação do jogo. Contar separadamente visitas, avaliações de folhas e tempo de execução; uma subárvore não explorada não entra na contagem de visitas. O quadro sistematiza as verificações já apresentadas no material.</a:t>
            </a:r>
          </a:p>
          <a:p/>
          <a:p>
            <a:r>
              <a:t>ORIGEM E ADAPTAÇÕES</a:t>
            </a:r>
          </a:p>
          <a:p>
            <a:r>
              <a:t>Base: IA-S06.pptx, diapositivos 20, 17.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5 min</a:t>
            </a:r>
          </a:p>
          <a:p/>
          <a:p>
            <a:r>
              <a:t>Dar cerca de três minutos para resolução e dois minutos para correção. Não apresentar de imediato os valores internos.</a:t>
            </a:r>
          </a:p>
          <a:p>
            <a:r>
              <a:t>Solução Minimax: MIN esquerdo devolve min(6,4)=4; MIN direito devolve min(3,8)=3; MAX devolve max(4,3)=4. A ação é L. A exploração completa visita sete nós e avalia quatro folhas.</a:t>
            </a:r>
          </a:p>
          <a:p>
            <a:r>
              <a:t>Solução alfa-beta: começar com alfa=−∞, beta=+∞. No MIN esquerdo, beta passa primeiro a 6 e depois a 4. Como alfa ainda é −∞, não há corte. O filho devolve 4 e a raiz atualiza alfa para 4. No MIN direito, a primeira folha vale 3; beta passa a 3. Como 4≥3, podar a folha 8. A raiz mantém valor 4 e ação L. São três folhas avaliadas e seis nós visitados.</a:t>
            </a:r>
          </a:p>
          <a:p>
            <a:r>
              <a:t>O nó direito parcialmente explorado tem valor no máximo 3; não foi necessário avaliar 8 para decidir.</a:t>
            </a:r>
          </a:p>
          <a:p>
            <a:r>
              <a:t>Desafio: trocar a ordem direita para 8,3. Com alfa=4, beta=8 após a primeira folha e ainda não se pode podar. É preciso avaliar 3. No fim a condição é satisfeita, mas não resta nenhuma folha para evitar: quatro avaliações e sete visitas. Mantêm-se o valor 4 e a ação L.</a:t>
            </a:r>
          </a:p>
          <a:p/>
          <a:p>
            <a:r>
              <a:t>ORIGEM E ADAPTAÇÕES</a:t>
            </a:r>
          </a:p>
          <a:p>
            <a:r>
              <a:t>Base: IA-S06.pptx, diapositivo 19.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PROPOSTO: 1 min</a:t>
            </a:r>
          </a:p>
          <a:p/>
          <a:p>
            <a:r>
              <a:t>Fechar distinguindo três responsabilidades: Minimax calcula a decisão sob a hipótese adversarial; alfa-beta evita explorações irrelevantes para a escolha; profundidade limitada com Eval estima estados que ainda não são terminais.</a:t>
            </a:r>
          </a:p>
          <a:p/>
          <a:p>
            <a:r>
              <a:t>A poda preserva o valor da árvore considerada, incluindo uma árvore limitada quando se usa a mesma função de avaliação. Não é uma garantia sobre o jogo completo quando os terminais futuros são substituídos por estimativas. Também não garante uma redução fixa de avaliações em todas as ordens.</a:t>
            </a:r>
          </a:p>
          <a:p/>
          <a:p>
            <a:r>
              <a:t>A sequência de engenharia é representar, calcular, podar, avaliar e verificar. As funções de estado, as hipóteses do adversário, a regra de desempate, a contagem de profundidade e a escala de U e Eval devem ser explícitas. As verificações podem acompanhar a implementação em Python.</a:t>
            </a:r>
          </a:p>
          <a:p/>
          <a:p>
            <a:r>
              <a:t>O tempo proposto para as 22 infografias é uma estimativa docente, não um tempo validado em aula. Usar uma sessão mais longa ou transferir o exercício para prática autónoma se for necessário aprofundar a leitura do pseudocódigo.</a:t>
            </a:r>
          </a:p>
          <a:p/>
          <a:p>
            <a:r>
              <a:t>ORIGEM E ADAPTAÇÕES</a:t>
            </a:r>
          </a:p>
          <a:p>
            <a:r>
              <a:t>Base: IA-S06.pptx, diapositivo 20.</a:t>
            </a:r>
          </a:p>
          <a:p/>
          <a:p>
            <a:r>
              <a:t>Referências de apoio já indicadas no material de base: UC Berkeley CS188, «Minimax», https://inst.eecs.berkeley.edu/~cs188/textbook/games/minimax.html ; AIMA, algoritmos de procura, https://aima.cs.berkeley.edu/lisp/doc/overview-SEARCH.html . Não foram acrescentados resultados empíricos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01-Procura-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02-Janelas-Atrac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03-Hipoteses-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04-Estado-Tran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05-Interface-Verific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06-Utilidade-Arv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07-Recorrencia-Mini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08-Execucao-Mini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09-Pseudocodigo-Mini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10-Complex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11-Ideia-Po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12-Alfa-Beta-Lim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13-Execucao-Alfa-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14-Cortes-Profund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15-Pseudocodigo-Alfa-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16-Ordem-Efici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17-Profundidade-Limi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18-Indicadores-Avali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19-Pesos-Sensibi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20-Verific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21-Exercicio-Integ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-S06-22-Sinte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Procura adversarial — 22 infografias</dc:title>
  <dc:subject>Minimax, poda alfa-beta e avaliação de estados</dc:subject>
  <dc:creator>António Gonçalves</dc:creator>
  <cp:keywords/>
  <dc:description>Uma infografia por slide. Formato 16:9. Notas do orador incluídas.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